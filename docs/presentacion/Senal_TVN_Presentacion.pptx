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8e182ef-da39-3696-95ff-57e11cbe2fc8}">
          <p14:sldIdLst>
            <p14:sldId id="256"/>
          </p14:sldIdLst>
        </p14:section>
        <p14:section name="Problema y solución" id="{91d25fea-dc34-bcb1-6cc3-196210637e80}">
          <p14:sldIdLst>
            <p14:sldId id="257"/>
            <p14:sldId id="258"/>
          </p14:sldIdLst>
        </p14:section>
        <p14:section name="Datos y método" id="{b70f8c5c-fb95-1381-6226-47e94a13732a}">
          <p14:sldIdLst>
            <p14:sldId id="259"/>
            <p14:sldId id="260"/>
            <p14:sldId id="261"/>
            <p14:sldId id="262"/>
          </p14:sldIdLst>
        </p14:section>
        <p14:section name="Tecnología y resultados" id="{f69236b8-c40f-a3e0-a7b9-8d8778745b4c}">
          <p14:sldIdLst>
            <p14:sldId id="263"/>
            <p14:sldId id="264"/>
            <p14:sldId id="265"/>
            <p14:sldId id="266"/>
          </p14:sldIdLst>
        </p14:section>
        <p14:section name="Extensión y cierre" id="{9aca36ab-417c-0d4f-138a-b5f80879d5dc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Excluidos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URL duplicada</c:v>
                  </c:pt>
                  <c:pt idx="1">
                    <c:v>Idioma no soportado</c:v>
                  </c:pt>
                  <c:pt idx="2">
                    <c:v>Fuera de ventana</c:v>
                  </c:pt>
                  <c:pt idx="3">
                    <c:v>Campo obligatorio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740</c:v>
                </c:pt>
                <c:pt idx="1">
                  <c:v>709</c:v>
                </c:pt>
                <c:pt idx="2">
                  <c:v>79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AF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97A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4E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B547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C4B6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7AA2FF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E97AD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</c:v>
                </c:pt>
                <c:pt idx="1">
                  <c:v>I</c:v>
                </c:pt>
                <c:pt idx="2">
                  <c:v>U</c:v>
                </c:pt>
                <c:pt idx="3">
                  <c:v>N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 local total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60991.9</c:v>
                </c:pt>
                <c:pt idx="1">
                  <c:v>61225.8</c:v>
                </c:pt>
                <c:pt idx="2">
                  <c:v>61380</c:v>
                </c:pt>
                <c:pt idx="3">
                  <c:v>61584</c:v>
                </c:pt>
                <c:pt idx="4">
                  <c:v>61859</c:v>
                </c:pt>
                <c:pt idx="5">
                  <c:v>62885</c:v>
                </c:pt>
                <c:pt idx="6">
                  <c:v>62846</c:v>
                </c:pt>
                <c:pt idx="7">
                  <c:v>63079</c:v>
                </c:pt>
                <c:pt idx="8">
                  <c:v>63836</c:v>
                </c:pt>
                <c:pt idx="9">
                  <c:v>64079.3</c:v>
                </c:pt>
                <c:pt idx="10">
                  <c:v>64183.2</c:v>
                </c:pt>
                <c:pt idx="11">
                  <c:v>63586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AF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00"/>
          <c:min val="60000"/>
        </c:scaling>
        <c:delete val="0"/>
        <c:axPos val="l"/>
        <c:majorGridlines>
          <c:spPr>
            <a:ln w="9525" cap="flat">
              <a:solidFill>
                <a:srgbClr val="222C4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97A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 TVN convierte titulares públicos e indicadores oficiales en una agenda priorizada, fichas de evidencia y borradores con citas. La decisión final siempre es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tiempo se va en encontrar qué revisar. La circulación de una noticia no equivale a su confirmación: varias notas pueden venir de la misma agencia.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bandeja por evento con puntaje explicable, ficha, consulta y paquete editorial con citas. Nada se publica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Corte 06/10/2026. Desviación declarada: ventana de 90 días porque ninguna fuente pública alcanza 2024. Errata del reto: la cuadrícula real es 540, no 1.350.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prioridad la calcula una fórmula reproducible. El estado de evidencia se mide aparte: prioridad alta no habilita publicación.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Jurado: '¿De dónde viene esta cifra?' → Qué está respaldado, con ID, año y advertencia 'dato anual, no actual'.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LLM cita mal, el validador descarta la afirmación y el sistema cae a la plantilla extractiva con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→ validación → almacenamiento con manifest → organización → priorización → generación con evidencias → interfaz → revisión humana → Notion.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honestos: en el benchmark de desarrollo la IA empata con BM25 en recuperación. Su valor real está en agrupar y clasificar.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Numeradores y denominadores explícitos. Pruebas T01–T10 del reto cubiertas. Ejecutar: uv run pytest y evals/eval_senal.py.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Jurado: '¿Qué pasa si una fuente intenta cambiar instrucciones?' → se marca como contenido sospechoso y se excluye del borrador.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CU-05: '¿Qué señales públicas del entorno logístico debo revisar?' → boletín con series SBP de 12/2024 citadas, sectores como hipótesis y aviso SBP fijo.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Jurado: 'Muéstrame una decisión, una prueba fallida y su corrección' → páginas 01 y 05 de Notion.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operativo: hipótesis declarada, todavía sin medición manual vs asistida. Pasar de 3.000 titulares a 5 temas investigables con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 del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56616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SEÑAL TVN  ·  HackIAthon 2026  ·  Reto TVN Media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HACKIATHON 2026  ·  RETO TVN MEDIA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Señal TVN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832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 la señal a la decisión: inteligencia editorial con evidencia trazable y cero cifras inventadas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Modalidad editorial TVN Media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 extensión Banca sobre el mismo núcleo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EL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Repetir una noticia no es confirmarla</a:t>
            </a:r>
            <a:endParaRPr lang="en-US" sz="3200" dirty="0"/>
          </a:p>
        </p:txBody>
      </p:sp>
      <p:sp>
        <p:nvSpPr>
          <p:cNvPr id="4" name="Dato 1"/>
          <p:cNvSpPr/>
          <p:nvPr/>
        </p:nvSpPr>
        <p:spPr>
          <a:xfrm>
            <a:off x="548640" y="18288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Dato 1 círculo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Dat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2512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3.049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titulares válidos en 90 días que una redacción tendría que revisar</a:t>
            </a:r>
            <a:endParaRPr lang="en-US" sz="1300" dirty="0"/>
          </a:p>
        </p:txBody>
      </p:sp>
      <p:sp>
        <p:nvSpPr>
          <p:cNvPr id="9" name="Dato 2"/>
          <p:cNvSpPr/>
          <p:nvPr/>
        </p:nvSpPr>
        <p:spPr>
          <a:xfrm>
            <a:off x="4338218" y="18288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Dato 2 círculo"/>
          <p:cNvSpPr/>
          <p:nvPr/>
        </p:nvSpPr>
        <p:spPr>
          <a:xfrm>
            <a:off x="4658258" y="2103120"/>
            <a:ext cx="548640" cy="54864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1" name="Dat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391" y="22512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740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47472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URLs duplicadas eliminadas solo en la carga: la misma nota circula muchas veces</a:t>
            </a:r>
            <a:endParaRPr lang="en-US" sz="1300" dirty="0"/>
          </a:p>
        </p:txBody>
      </p:sp>
      <p:sp>
        <p:nvSpPr>
          <p:cNvPr id="14" name="Dato 3"/>
          <p:cNvSpPr/>
          <p:nvPr/>
        </p:nvSpPr>
        <p:spPr>
          <a:xfrm>
            <a:off x="8127797" y="18288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Dato 3 círculo"/>
          <p:cNvSpPr/>
          <p:nvPr/>
        </p:nvSpPr>
        <p:spPr>
          <a:xfrm>
            <a:off x="8447837" y="2103120"/>
            <a:ext cx="548640" cy="5486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6" name="Dat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970" y="22512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6974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1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47472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cinco medios que replican una misma agencia son una sola procedencia</a:t>
            </a:r>
            <a:endParaRPr lang="en-US" sz="1300" dirty="0"/>
          </a:p>
        </p:txBody>
      </p:sp>
      <p:sp>
        <p:nvSpPr>
          <p:cNvPr id="19" name="Editor/a y periodista círculo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0" name="Editor/a y periodista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480288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572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Editor/a y periodista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463040" y="498348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Fuentes dispersas, duplicados y poco tiempo para decidir qué investigar y qué falta verificar.</a:t>
            </a:r>
            <a:endParaRPr lang="en-US" sz="1400" dirty="0"/>
          </a:p>
        </p:txBody>
      </p:sp>
      <p:sp>
        <p:nvSpPr>
          <p:cNvPr id="23" name="Analista bancario círculo"/>
          <p:cNvSpPr/>
          <p:nvPr/>
        </p:nvSpPr>
        <p:spPr>
          <a:xfrm>
            <a:off x="6233008" y="4617720"/>
            <a:ext cx="685800" cy="685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4" name="Analista bancario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174" y="4802886"/>
            <a:ext cx="315468" cy="3154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7408" y="4572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Analista bancario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47408" y="498348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 mismo problema al vigilar economía, logística, turismo y regulación, sin evaluar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LA SOLUCIÓN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Siete pasos del titular a la decisión humana</a:t>
            </a:r>
            <a:endParaRPr lang="en-US" sz="3200" dirty="0"/>
          </a:p>
        </p:txBody>
      </p:sp>
      <p:sp>
        <p:nvSpPr>
          <p:cNvPr id="4" name="Conector de pasos"/>
          <p:cNvSpPr/>
          <p:nvPr/>
        </p:nvSpPr>
        <p:spPr>
          <a:xfrm>
            <a:off x="1341098" y="2491740"/>
            <a:ext cx="9509499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Paso 1 fondo"/>
          <p:cNvSpPr/>
          <p:nvPr/>
        </p:nvSpPr>
        <p:spPr>
          <a:xfrm>
            <a:off x="906758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 1 círculo"/>
          <p:cNvSpPr/>
          <p:nvPr/>
        </p:nvSpPr>
        <p:spPr>
          <a:xfrm>
            <a:off x="906758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Pas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302" y="2291944"/>
            <a:ext cx="399593" cy="3995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Cargar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Valida IDs, URLs, fechas y nulos; emite reporte de calidad</a:t>
            </a:r>
            <a:endParaRPr lang="en-US" sz="1200" dirty="0"/>
          </a:p>
        </p:txBody>
      </p:sp>
      <p:sp>
        <p:nvSpPr>
          <p:cNvPr id="11" name="Paso 2 fondo"/>
          <p:cNvSpPr/>
          <p:nvPr/>
        </p:nvSpPr>
        <p:spPr>
          <a:xfrm>
            <a:off x="2491675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aso 2 círculo"/>
          <p:cNvSpPr/>
          <p:nvPr/>
        </p:nvSpPr>
        <p:spPr>
          <a:xfrm>
            <a:off x="2491675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Pas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218" y="2291944"/>
            <a:ext cx="399593" cy="3995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33556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133556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Organizar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224996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Clasifica 6 temas con e5 y agrupa noticias por evento</a:t>
            </a:r>
            <a:endParaRPr lang="en-US" sz="1200" dirty="0"/>
          </a:p>
        </p:txBody>
      </p:sp>
      <p:sp>
        <p:nvSpPr>
          <p:cNvPr id="17" name="Paso 3 fondo"/>
          <p:cNvSpPr/>
          <p:nvPr/>
        </p:nvSpPr>
        <p:spPr>
          <a:xfrm>
            <a:off x="4076591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Paso 3 círculo"/>
          <p:cNvSpPr/>
          <p:nvPr/>
        </p:nvSpPr>
        <p:spPr>
          <a:xfrm>
            <a:off x="4076591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9" name="Pas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135" y="2291944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18473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718473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Contextualizar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809913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Enlaza series oficiales con país, año y unidad</a:t>
            </a:r>
            <a:endParaRPr lang="en-US" sz="1200" dirty="0"/>
          </a:p>
        </p:txBody>
      </p:sp>
      <p:sp>
        <p:nvSpPr>
          <p:cNvPr id="23" name="Paso 4 fondo"/>
          <p:cNvSpPr/>
          <p:nvPr/>
        </p:nvSpPr>
        <p:spPr>
          <a:xfrm>
            <a:off x="5661508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Paso 4 círculo"/>
          <p:cNvSpPr/>
          <p:nvPr/>
        </p:nvSpPr>
        <p:spPr>
          <a:xfrm>
            <a:off x="5661508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5" name="Paso 4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051" y="2291944"/>
            <a:ext cx="399593" cy="3995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03389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303389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Priorizar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394829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Puntaje 0–100 con cada componente visible</a:t>
            </a:r>
            <a:endParaRPr lang="en-US" sz="1200" dirty="0"/>
          </a:p>
        </p:txBody>
      </p:sp>
      <p:sp>
        <p:nvSpPr>
          <p:cNvPr id="29" name="Paso 5 fondo"/>
          <p:cNvSpPr/>
          <p:nvPr/>
        </p:nvSpPr>
        <p:spPr>
          <a:xfrm>
            <a:off x="7246424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Paso 5 círculo"/>
          <p:cNvSpPr/>
          <p:nvPr/>
        </p:nvSpPr>
        <p:spPr>
          <a:xfrm>
            <a:off x="7246424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Paso 5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968" y="2291944"/>
            <a:ext cx="399593" cy="39959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888306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888306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Explicar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6979746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Ficha: qué, quién, qué respalda, qué falta</a:t>
            </a:r>
            <a:endParaRPr lang="en-US" sz="1200" dirty="0"/>
          </a:p>
        </p:txBody>
      </p:sp>
      <p:sp>
        <p:nvSpPr>
          <p:cNvPr id="35" name="Paso 6 fondo"/>
          <p:cNvSpPr/>
          <p:nvPr/>
        </p:nvSpPr>
        <p:spPr>
          <a:xfrm>
            <a:off x="8831341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Paso 6 círculo"/>
          <p:cNvSpPr/>
          <p:nvPr/>
        </p:nvSpPr>
        <p:spPr>
          <a:xfrm>
            <a:off x="8831341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7" name="Paso 6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5884" y="2291944"/>
            <a:ext cx="399593" cy="39959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473222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8473222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Producir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564662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Brief, guion y copy con cita por afirmación</a:t>
            </a:r>
            <a:endParaRPr lang="en-US" sz="1200" dirty="0"/>
          </a:p>
        </p:txBody>
      </p:sp>
      <p:sp>
        <p:nvSpPr>
          <p:cNvPr id="41" name="Paso 7 fondo"/>
          <p:cNvSpPr/>
          <p:nvPr/>
        </p:nvSpPr>
        <p:spPr>
          <a:xfrm>
            <a:off x="10416257" y="2057400"/>
            <a:ext cx="868680" cy="8686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Paso 7 círculo"/>
          <p:cNvSpPr/>
          <p:nvPr/>
        </p:nvSpPr>
        <p:spPr>
          <a:xfrm>
            <a:off x="10416257" y="2057400"/>
            <a:ext cx="868680" cy="86868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43" name="Paso 7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0801" y="2291944"/>
            <a:ext cx="399593" cy="39959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058139" y="310896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10058139" y="3383280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Revisar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10149579" y="3794760"/>
            <a:ext cx="1402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Una persona aprueba, corrige o descarta</a:t>
            </a:r>
            <a:endParaRPr lang="en-US" sz="1200" dirty="0"/>
          </a:p>
        </p:txBody>
      </p:sp>
      <p:sp>
        <p:nvSpPr>
          <p:cNvPr id="47" name="Entregable TVN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Entregable círculo"/>
          <p:cNvSpPr/>
          <p:nvPr/>
        </p:nvSpPr>
        <p:spPr>
          <a:xfrm>
            <a:off x="822960" y="5257800"/>
            <a:ext cx="594360" cy="59436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49" name="Entregable icon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437" y="5418277"/>
            <a:ext cx="273406" cy="27340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645920" y="512064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Paquete editorial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Brief ≤ 250 palabras · título · 3 preguntas de investigación · guion 45–60 s · copy digital ≤ 80 palabras · verificaciones pendientes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· DATOS PÚBLICOS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Cinco fuentes públicas en un snapshot auditado</a:t>
            </a:r>
            <a:endParaRPr lang="en-US" sz="3200" dirty="0"/>
          </a:p>
        </p:txBody>
      </p:sp>
      <p:sp>
        <p:nvSpPr>
          <p:cNvPr id="4" name="Fuente TVN · RSS"/>
          <p:cNvSpPr/>
          <p:nvPr/>
        </p:nvSpPr>
        <p:spPr>
          <a:xfrm>
            <a:off x="548640" y="1828800"/>
            <a:ext cx="60350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VN · RSS círculo"/>
          <p:cNvSpPr/>
          <p:nvPr/>
        </p:nvSpPr>
        <p:spPr>
          <a:xfrm>
            <a:off x="731520" y="1984248"/>
            <a:ext cx="512064" cy="512064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TVN · RS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21225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TVN · RSS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Titulares y metadatos; descripciones excluidas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93852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400" dirty="0"/>
          </a:p>
        </p:txBody>
      </p:sp>
      <p:sp>
        <p:nvSpPr>
          <p:cNvPr id="10" name="Fuente GDELT DOC 2.0"/>
          <p:cNvSpPr/>
          <p:nvPr/>
        </p:nvSpPr>
        <p:spPr>
          <a:xfrm>
            <a:off x="548640" y="2706624"/>
            <a:ext cx="60350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GDELT DOC 2.0 círculo"/>
          <p:cNvSpPr/>
          <p:nvPr/>
        </p:nvSpPr>
        <p:spPr>
          <a:xfrm>
            <a:off x="731520" y="2862072"/>
            <a:ext cx="512064" cy="512064"/>
          </a:xfrm>
          <a:prstGeom prst="ellipse">
            <a:avLst/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2" name="GDELT DOC 2.0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7" y="3000329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GDELT DOC 2.0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Metadatos de medios, es/en, 90 días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281635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2.981</a:t>
            </a:r>
            <a:endParaRPr lang="en-US" sz="2400" dirty="0"/>
          </a:p>
        </p:txBody>
      </p:sp>
      <p:sp>
        <p:nvSpPr>
          <p:cNvPr id="16" name="Fuente Banco Mundial"/>
          <p:cNvSpPr/>
          <p:nvPr/>
        </p:nvSpPr>
        <p:spPr>
          <a:xfrm>
            <a:off x="548640" y="3584448"/>
            <a:ext cx="60350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Banco Mundial círculo"/>
          <p:cNvSpPr/>
          <p:nvPr/>
        </p:nvSpPr>
        <p:spPr>
          <a:xfrm>
            <a:off x="731520" y="3739896"/>
            <a:ext cx="512064" cy="512064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8" name="Banco Mundial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3878153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Banco Mundial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023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 países × 6 indicadores × 2010–2024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257800" y="369417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540</a:t>
            </a:r>
            <a:endParaRPr lang="en-US" sz="2400" dirty="0"/>
          </a:p>
        </p:txBody>
      </p:sp>
      <p:sp>
        <p:nvSpPr>
          <p:cNvPr id="22" name="Fuente USGS · FDSN"/>
          <p:cNvSpPr/>
          <p:nvPr/>
        </p:nvSpPr>
        <p:spPr>
          <a:xfrm>
            <a:off x="548640" y="4462272"/>
            <a:ext cx="60350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USGS · FDSN círculo"/>
          <p:cNvSpPr/>
          <p:nvPr/>
        </p:nvSpPr>
        <p:spPr>
          <a:xfrm>
            <a:off x="731520" y="4617720"/>
            <a:ext cx="512064" cy="512064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4" name="USGS · FDSN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77" y="4755977"/>
            <a:ext cx="235549" cy="2355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USGS · FDSN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4901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Sismos 2024, M ≥ 3, región del istmo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257800" y="45720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400" dirty="0"/>
          </a:p>
        </p:txBody>
      </p:sp>
      <p:sp>
        <p:nvSpPr>
          <p:cNvPr id="28" name="Fuente Superintendencia de Bancos"/>
          <p:cNvSpPr/>
          <p:nvPr/>
        </p:nvSpPr>
        <p:spPr>
          <a:xfrm>
            <a:off x="548640" y="5340096"/>
            <a:ext cx="60350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uperintendencia de Bancos círculo"/>
          <p:cNvSpPr/>
          <p:nvPr/>
        </p:nvSpPr>
        <p:spPr>
          <a:xfrm>
            <a:off x="731520" y="5495544"/>
            <a:ext cx="512064" cy="512064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0" name="Superintendencia de Bancos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5633801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17320" y="5449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Superintendencia de Bancos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417320" y="5779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 informes 2024 × 13 sectores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257800" y="54498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400" dirty="0"/>
          </a:p>
        </p:txBody>
      </p:sp>
      <p:sp>
        <p:nvSpPr>
          <p:cNvPr id="34" name="Panel de calidad"/>
          <p:cNvSpPr/>
          <p:nvPr/>
        </p:nvSpPr>
        <p:spPr>
          <a:xfrm>
            <a:off x="6949440" y="1828800"/>
            <a:ext cx="4693615" cy="4334256"/>
          </a:xfrm>
          <a:prstGeom prst="roundRect">
            <a:avLst>
              <a:gd name="adj" fmla="val 211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223760" y="201168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Registros excluidos en la carga, por motivo</a:t>
            </a:r>
            <a:endParaRPr lang="en-US" sz="1500" dirty="0"/>
          </a:p>
        </p:txBody>
      </p:sp>
      <p:graphicFrame>
        <p:nvGraphicFramePr>
          <p:cNvPr id="36" name="Gráfico de exclusiones" descr=""/>
          <p:cNvGraphicFramePr/>
          <p:nvPr/>
        </p:nvGraphicFramePr>
        <p:xfrm>
          <a:off x="7086600" y="2377440"/>
          <a:ext cx="432785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7" name="Text 29"/>
          <p:cNvSpPr txBox="1"/>
          <p:nvPr/>
        </p:nvSpPr>
        <p:spPr>
          <a:xfrm>
            <a:off x="7223760" y="5166360"/>
            <a:ext cx="4144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Nulos conservados como null, nunca 0 · SHA-256 por archivo en el manifest · data/raw se regenera con receta, no se redistribuye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· PRIORIZACIÓN EXPLICABLE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Un puntaje explicable decide el orden, no el LLM</a:t>
            </a:r>
            <a:endParaRPr lang="en-US" sz="3200" dirty="0"/>
          </a:p>
        </p:txBody>
      </p:sp>
      <p:sp>
        <p:nvSpPr>
          <p:cNvPr id="4" name="Panel de pesos"/>
          <p:cNvSpPr/>
          <p:nvPr/>
        </p:nvSpPr>
        <p:spPr>
          <a:xfrm>
            <a:off x="548640" y="1828800"/>
            <a:ext cx="4206240" cy="4334256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30R + 25I + 20U + 15N + 10E</a:t>
            </a:r>
            <a:endParaRPr lang="en-US" sz="1900" dirty="0"/>
          </a:p>
        </p:txBody>
      </p:sp>
      <p:graphicFrame>
        <p:nvGraphicFramePr>
          <p:cNvPr id="6" name="Pesos del puntaje" descr=""/>
          <p:cNvGraphicFramePr/>
          <p:nvPr/>
        </p:nvGraphicFramePr>
        <p:xfrm>
          <a:off x="1051560" y="2514600"/>
          <a:ext cx="3200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965960" y="3520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puntos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Regla versionada senal-1.1.0 · empates: mayor U, luego ID</a:t>
            </a:r>
            <a:endParaRPr lang="en-US" sz="1100" dirty="0"/>
          </a:p>
        </p:txBody>
      </p:sp>
      <p:sp>
        <p:nvSpPr>
          <p:cNvPr id="9" name="Componente R"/>
          <p:cNvSpPr/>
          <p:nvPr/>
        </p:nvSpPr>
        <p:spPr>
          <a:xfrm>
            <a:off x="5029200" y="1874520"/>
            <a:ext cx="548640" cy="5486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Relevancia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30 pts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17627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Gazetteer de Panamá × peso del tema</a:t>
            </a:r>
            <a:endParaRPr lang="en-US" sz="1300" dirty="0"/>
          </a:p>
        </p:txBody>
      </p:sp>
      <p:sp>
        <p:nvSpPr>
          <p:cNvPr id="13" name="Componente I"/>
          <p:cNvSpPr/>
          <p:nvPr/>
        </p:nvSpPr>
        <p:spPr>
          <a:xfrm>
            <a:off x="5029200" y="2606040"/>
            <a:ext cx="548640" cy="54864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Impacto  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25 pts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290779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Alcance del tema + 0,3 si hay dato oficial enlazado</a:t>
            </a:r>
            <a:endParaRPr lang="en-US" sz="1300" dirty="0"/>
          </a:p>
        </p:txBody>
      </p:sp>
      <p:sp>
        <p:nvSpPr>
          <p:cNvPr id="17" name="Componente U"/>
          <p:cNvSpPr/>
          <p:nvPr/>
        </p:nvSpPr>
        <p:spPr>
          <a:xfrm>
            <a:off x="5029200" y="3337560"/>
            <a:ext cx="548640" cy="5486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Urgencia 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20 pts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363931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exp(−edad en días / 7) desde la fecha de corte</a:t>
            </a:r>
            <a:endParaRPr lang="en-US" sz="1300" dirty="0"/>
          </a:p>
        </p:txBody>
      </p:sp>
      <p:sp>
        <p:nvSpPr>
          <p:cNvPr id="21" name="Componente N"/>
          <p:cNvSpPr/>
          <p:nvPr/>
        </p:nvSpPr>
        <p:spPr>
          <a:xfrm>
            <a:off x="5029200" y="4069080"/>
            <a:ext cx="548640" cy="54864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Novedad  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15 pts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806440" y="437083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1 − similitud coseno máx. con eventos previos</a:t>
            </a:r>
            <a:endParaRPr lang="en-US" sz="1300" dirty="0"/>
          </a:p>
        </p:txBody>
      </p:sp>
      <p:sp>
        <p:nvSpPr>
          <p:cNvPr id="25" name="Componente E"/>
          <p:cNvSpPr/>
          <p:nvPr/>
        </p:nvSpPr>
        <p:spPr>
          <a:xfrm>
            <a:off x="5029200" y="4800600"/>
            <a:ext cx="548640" cy="548640"/>
          </a:xfrm>
          <a:prstGeom prst="ellipse">
            <a:avLst/>
          </a:prstGeom>
          <a:solidFill>
            <a:schemeClr val="accent5">
              <a:alpha val="2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80644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Evidencia 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10 pts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806440" y="510235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Procedencias independientes (tope 3) + fuente oficial</a:t>
            </a:r>
            <a:endParaRPr lang="en-US" sz="1300" dirty="0"/>
          </a:p>
        </p:txBody>
      </p:sp>
      <p:sp>
        <p:nvSpPr>
          <p:cNvPr id="29" name="Banda BAJO  [0, 40)"/>
          <p:cNvSpPr/>
          <p:nvPr/>
        </p:nvSpPr>
        <p:spPr>
          <a:xfrm>
            <a:off x="5029200" y="5669280"/>
            <a:ext cx="2082698" cy="420624"/>
          </a:xfrm>
          <a:prstGeom prst="roundRect">
            <a:avLst>
              <a:gd name="adj" fmla="val 50000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0" y="5669280"/>
            <a:ext cx="2082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BAJO  [0, 40)</a:t>
            </a:r>
            <a:endParaRPr lang="en-US" sz="1200" dirty="0"/>
          </a:p>
        </p:txBody>
      </p:sp>
      <p:sp>
        <p:nvSpPr>
          <p:cNvPr id="31" name="Banda MEDIO  [40, 70)"/>
          <p:cNvSpPr/>
          <p:nvPr/>
        </p:nvSpPr>
        <p:spPr>
          <a:xfrm>
            <a:off x="7294778" y="5669280"/>
            <a:ext cx="2082698" cy="420624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94778" y="5669280"/>
            <a:ext cx="2082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MEDIO  [40, 70)</a:t>
            </a:r>
            <a:endParaRPr lang="en-US" sz="1200" dirty="0"/>
          </a:p>
        </p:txBody>
      </p:sp>
      <p:sp>
        <p:nvSpPr>
          <p:cNvPr id="33" name="Banda ALTO  [70, 100]"/>
          <p:cNvSpPr/>
          <p:nvPr/>
        </p:nvSpPr>
        <p:spPr>
          <a:xfrm>
            <a:off x="9560357" y="5669280"/>
            <a:ext cx="2082698" cy="420624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60357" y="5669280"/>
            <a:ext cx="2082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ALTO  [70, 100]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· FICHA DEL 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 ficha separa lo dicho de lo respaldado</a:t>
            </a:r>
            <a:endParaRPr lang="en-US" sz="3200" dirty="0"/>
          </a:p>
        </p:txBody>
      </p:sp>
      <p:sp>
        <p:nvSpPr>
          <p:cNvPr id="4" name="Qué se reporta"/>
          <p:cNvSpPr/>
          <p:nvPr/>
        </p:nvSpPr>
        <p:spPr>
          <a:xfrm>
            <a:off x="548640" y="1828800"/>
            <a:ext cx="3429000" cy="2029968"/>
          </a:xfrm>
          <a:prstGeom prst="roundRect">
            <a:avLst>
              <a:gd name="adj" fmla="val 450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Qué se reporta círculo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Qué se reporta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561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se reporta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Titulares agrupados en un solo evento, con fecha original y no la de detección.</a:t>
            </a:r>
            <a:endParaRPr lang="en-US" sz="1300" dirty="0"/>
          </a:p>
        </p:txBody>
      </p:sp>
      <p:sp>
        <p:nvSpPr>
          <p:cNvPr id="9" name="Quién lo reporta"/>
          <p:cNvSpPr/>
          <p:nvPr/>
        </p:nvSpPr>
        <p:spPr>
          <a:xfrm>
            <a:off x="4251960" y="1828800"/>
            <a:ext cx="3429000" cy="2029968"/>
          </a:xfrm>
          <a:prstGeom prst="roundRect">
            <a:avLst>
              <a:gd name="adj" fmla="val 450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Quién lo reporta círculo"/>
          <p:cNvSpPr/>
          <p:nvPr/>
        </p:nvSpPr>
        <p:spPr>
          <a:xfrm>
            <a:off x="4526280" y="2103120"/>
            <a:ext cx="566928" cy="566928"/>
          </a:xfrm>
          <a:prstGeom prst="ellipse">
            <a:avLst/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1" name="Quién lo reporta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351" y="225619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7889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Quién lo reporta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154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Procedencias independientes: una agencia replicada cuenta una sola vez.</a:t>
            </a:r>
            <a:endParaRPr lang="en-US" sz="1300" dirty="0"/>
          </a:p>
        </p:txBody>
      </p:sp>
      <p:sp>
        <p:nvSpPr>
          <p:cNvPr id="14" name="Qué está respaldado"/>
          <p:cNvSpPr/>
          <p:nvPr/>
        </p:nvSpPr>
        <p:spPr>
          <a:xfrm>
            <a:off x="548640" y="4133088"/>
            <a:ext cx="3429000" cy="2029968"/>
          </a:xfrm>
          <a:prstGeom prst="roundRect">
            <a:avLst>
              <a:gd name="adj" fmla="val 450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Qué está respaldado círculo"/>
          <p:cNvSpPr/>
          <p:nvPr/>
        </p:nvSpPr>
        <p:spPr>
          <a:xfrm>
            <a:off x="822960" y="4407408"/>
            <a:ext cx="566928" cy="566928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6" name="Qué está respaldado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456047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50932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está respaldado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4589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Cifras oficiales con ID, año y unidad, p. ej. WB:PAN:FP.CPI.TOTL.ZG:2024.</a:t>
            </a:r>
            <a:endParaRPr lang="en-US" sz="1300" dirty="0"/>
          </a:p>
        </p:txBody>
      </p:sp>
      <p:sp>
        <p:nvSpPr>
          <p:cNvPr id="19" name="Qué falta comprobar"/>
          <p:cNvSpPr/>
          <p:nvPr/>
        </p:nvSpPr>
        <p:spPr>
          <a:xfrm>
            <a:off x="4251960" y="4133088"/>
            <a:ext cx="3429000" cy="2029968"/>
          </a:xfrm>
          <a:prstGeom prst="roundRect">
            <a:avLst>
              <a:gd name="adj" fmla="val 450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Qué falta comprobar círculo"/>
          <p:cNvSpPr/>
          <p:nvPr/>
        </p:nvSpPr>
        <p:spPr>
          <a:xfrm>
            <a:off x="4526280" y="4407408"/>
            <a:ext cx="566928" cy="566928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1" name="Qué falta comprobar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51" y="4560479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526280" y="50932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falta comprobar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526280" y="54589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Vacíos, contradicciones y preguntas de investigación para la mesa.</a:t>
            </a:r>
            <a:endParaRPr lang="en-US" sz="1300" dirty="0"/>
          </a:p>
        </p:txBody>
      </p:sp>
      <p:sp>
        <p:nvSpPr>
          <p:cNvPr id="24" name="Estado de evidencia"/>
          <p:cNvSpPr/>
          <p:nvPr/>
        </p:nvSpPr>
        <p:spPr>
          <a:xfrm>
            <a:off x="7955280" y="1828800"/>
            <a:ext cx="3687775" cy="4334256"/>
          </a:xfrm>
          <a:prstGeom prst="roundRect">
            <a:avLst>
              <a:gd name="adj" fmla="val 248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0" y="205740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Estado de evidencia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0" y="242316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Independiente del puntaje</a:t>
            </a:r>
            <a:endParaRPr lang="en-US" sz="1200" dirty="0"/>
          </a:p>
        </p:txBody>
      </p:sp>
      <p:sp>
        <p:nvSpPr>
          <p:cNvPr id="27" name="Estado Insuficiente"/>
          <p:cNvSpPr/>
          <p:nvPr/>
        </p:nvSpPr>
        <p:spPr>
          <a:xfrm>
            <a:off x="8229600" y="2953512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641080" y="2880360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Insuficiente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641080" y="3191256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 procedencias</a:t>
            </a:r>
            <a:endParaRPr lang="en-US" sz="1200" dirty="0"/>
          </a:p>
        </p:txBody>
      </p:sp>
      <p:sp>
        <p:nvSpPr>
          <p:cNvPr id="30" name="Estado Parcial"/>
          <p:cNvSpPr/>
          <p:nvPr/>
        </p:nvSpPr>
        <p:spPr>
          <a:xfrm>
            <a:off x="8229600" y="3666744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641080" y="3593592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Parcial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8641080" y="3904488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procedencia</a:t>
            </a:r>
            <a:endParaRPr lang="en-US" sz="1200" dirty="0"/>
          </a:p>
        </p:txBody>
      </p:sp>
      <p:sp>
        <p:nvSpPr>
          <p:cNvPr id="33" name="Estado Suficiente para borrador"/>
          <p:cNvSpPr/>
          <p:nvPr/>
        </p:nvSpPr>
        <p:spPr>
          <a:xfrm>
            <a:off x="8229600" y="4379976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641080" y="4306824"/>
            <a:ext cx="2773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Suficiente para borrador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641080" y="46177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≥ 2 procedencias o una oficial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229600" y="5166360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Prioridad alta + evidencia insuficiente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= investigar, nunca publicar.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· BORRADOR CON CITAS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Cada afirmación lleva cita; lo demás se elimina</a:t>
            </a:r>
            <a:endParaRPr lang="en-US" sz="3200" dirty="0"/>
          </a:p>
        </p:txBody>
      </p:sp>
      <p:sp>
        <p:nvSpPr>
          <p:cNvPr id="4" name="Borrador de ejemplo"/>
          <p:cNvSpPr/>
          <p:nvPr/>
        </p:nvSpPr>
        <p:spPr>
          <a:xfrm>
            <a:off x="548640" y="1828800"/>
            <a:ext cx="6858000" cy="4334256"/>
          </a:xfrm>
          <a:prstGeom prst="roundRect">
            <a:avLst>
              <a:gd name="adj" fmla="val 211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Ejemplo del formato de salida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Basado únicamente en titular/metadatos</a:t>
            </a:r>
            <a:endParaRPr lang="en-US" sz="1100" dirty="0"/>
          </a:p>
        </p:txBody>
      </p:sp>
      <p:sp>
        <p:nvSpPr>
          <p:cNvPr id="7" name="Tipo HECHO"/>
          <p:cNvSpPr/>
          <p:nvPr/>
        </p:nvSpPr>
        <p:spPr>
          <a:xfrm>
            <a:off x="822960" y="2551176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511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HECHO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5146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inflación anual de Panamá fue 0,69 % en 2024 (dato anual, no actual).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0815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[WB:PAN:FP.CPI.TOTL.ZG:2024 · valor]</a:t>
            </a:r>
            <a:endParaRPr lang="en-US" sz="1100" dirty="0"/>
          </a:p>
        </p:txBody>
      </p:sp>
      <p:sp>
        <p:nvSpPr>
          <p:cNvPr id="11" name="Tipo DECLARACIÓN"/>
          <p:cNvSpPr/>
          <p:nvPr/>
        </p:nvSpPr>
        <p:spPr>
          <a:xfrm>
            <a:off x="822960" y="344728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472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DECLARACIÓN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410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Empresarios de Bocas del Toro exigen auditoría por el alza de combustibles.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[N-002b16487b3c · titulo]</a:t>
            </a:r>
            <a:endParaRPr lang="en-US" sz="1100" dirty="0"/>
          </a:p>
        </p:txBody>
      </p:sp>
      <p:sp>
        <p:nvSpPr>
          <p:cNvPr id="15" name="Tipo HIPÓTESIS"/>
          <p:cNvSpPr/>
          <p:nvPr/>
        </p:nvSpPr>
        <p:spPr>
          <a:xfrm>
            <a:off x="822960" y="4343400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HIPÓTESIS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43068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 alza podría presionar costos de transporte local.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873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cita: se registra como vacío por verificar</a:t>
            </a:r>
            <a:endParaRPr lang="en-US" sz="1100" dirty="0"/>
          </a:p>
        </p:txBody>
      </p:sp>
      <p:sp>
        <p:nvSpPr>
          <p:cNvPr id="19" name="Tipo ELIMINADA"/>
          <p:cNvSpPr/>
          <p:nvPr/>
        </p:nvSpPr>
        <p:spPr>
          <a:xfrm>
            <a:off x="822960" y="5239512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395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ELIMINADA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520293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«Los precios subieron 12 %»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57698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Cifra sin respaldo: el validador la descarta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182880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Redacción en cascada</a:t>
            </a:r>
            <a:endParaRPr lang="en-US" sz="1700" dirty="0"/>
          </a:p>
        </p:txBody>
      </p:sp>
      <p:sp>
        <p:nvSpPr>
          <p:cNvPr id="24" name="Motor Gemini flash"/>
          <p:cNvSpPr/>
          <p:nvPr/>
        </p:nvSpPr>
        <p:spPr>
          <a:xfrm>
            <a:off x="7772400" y="2331720"/>
            <a:ext cx="3870655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2423160"/>
            <a:ext cx="332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Gemini flash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734056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Temperatura 0,2 · salida JSON</a:t>
            </a:r>
            <a:endParaRPr lang="en-US" sz="1200" dirty="0"/>
          </a:p>
        </p:txBody>
      </p:sp>
      <p:sp>
        <p:nvSpPr>
          <p:cNvPr id="27" name="Flecha cascada 0"/>
          <p:cNvSpPr/>
          <p:nvPr/>
        </p:nvSpPr>
        <p:spPr>
          <a:xfrm>
            <a:off x="9707728" y="3099816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Motor Ollama llama3.2"/>
          <p:cNvSpPr/>
          <p:nvPr/>
        </p:nvSpPr>
        <p:spPr>
          <a:xfrm>
            <a:off x="7772400" y="3355848"/>
            <a:ext cx="3870655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3447288"/>
            <a:ext cx="332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Ollama llama3.2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758184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Local · US$ 0 · sin red</a:t>
            </a:r>
            <a:endParaRPr lang="en-US" sz="1200" dirty="0"/>
          </a:p>
        </p:txBody>
      </p:sp>
      <p:sp>
        <p:nvSpPr>
          <p:cNvPr id="31" name="Flecha cascada 1"/>
          <p:cNvSpPr/>
          <p:nvPr/>
        </p:nvSpPr>
        <p:spPr>
          <a:xfrm>
            <a:off x="9707728" y="4123944"/>
            <a:ext cx="0" cy="2377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Motor Plantilla extractiva v1"/>
          <p:cNvSpPr/>
          <p:nvPr/>
        </p:nvSpPr>
        <p:spPr>
          <a:xfrm>
            <a:off x="7772400" y="4379976"/>
            <a:ext cx="3870655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471416"/>
            <a:ext cx="332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Plantilla extractiva v1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4782312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Sin LLM · nunca inventa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5440680"/>
            <a:ext cx="3870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Antes del LLM: compuerta de abstención. Después: validador de citas que exige ID recuperado, campo citable, cifra presente y año.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07 · ARQUITECTURA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Todo corre en local: la demo funciona sin internet</a:t>
            </a:r>
            <a:endParaRPr lang="en-US" sz="3200" dirty="0"/>
          </a:p>
        </p:txBody>
      </p:sp>
      <p:sp>
        <p:nvSpPr>
          <p:cNvPr id="4" name="Módulo 1"/>
          <p:cNvSpPr/>
          <p:nvPr/>
        </p:nvSpPr>
        <p:spPr>
          <a:xfrm>
            <a:off x="548640" y="187452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Fuentes públicas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 · GDELT · WB · USGS · SBP</a:t>
            </a:r>
            <a:endParaRPr lang="en-US" sz="1000" dirty="0"/>
          </a:p>
        </p:txBody>
      </p:sp>
      <p:sp>
        <p:nvSpPr>
          <p:cNvPr id="8" name="Flecha f1 0"/>
          <p:cNvSpPr/>
          <p:nvPr/>
        </p:nvSpPr>
        <p:spPr>
          <a:xfrm>
            <a:off x="2514600" y="240030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Módulo 2"/>
          <p:cNvSpPr/>
          <p:nvPr/>
        </p:nvSpPr>
        <p:spPr>
          <a:xfrm>
            <a:off x="2842184" y="187452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5064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25064" y="2221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Ingesta y snapshot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25064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· snapshot</a:t>
            </a:r>
            <a:endParaRPr lang="en-US" sz="1000" dirty="0"/>
          </a:p>
        </p:txBody>
      </p:sp>
      <p:sp>
        <p:nvSpPr>
          <p:cNvPr id="13" name="Flecha f1 1"/>
          <p:cNvSpPr/>
          <p:nvPr/>
        </p:nvSpPr>
        <p:spPr>
          <a:xfrm>
            <a:off x="4808144" y="240030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Módulo 3"/>
          <p:cNvSpPr/>
          <p:nvPr/>
        </p:nvSpPr>
        <p:spPr>
          <a:xfrm>
            <a:off x="5135728" y="187452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8608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18608" y="2221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Organización 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18608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organize · embed (e5)</a:t>
            </a:r>
            <a:endParaRPr lang="en-US" sz="1000" dirty="0"/>
          </a:p>
        </p:txBody>
      </p:sp>
      <p:sp>
        <p:nvSpPr>
          <p:cNvPr id="18" name="Flecha f1 2"/>
          <p:cNvSpPr/>
          <p:nvPr/>
        </p:nvSpPr>
        <p:spPr>
          <a:xfrm>
            <a:off x="7101688" y="240030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Módulo 4"/>
          <p:cNvSpPr/>
          <p:nvPr/>
        </p:nvSpPr>
        <p:spPr>
          <a:xfrm>
            <a:off x="7429271" y="187452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12151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12151" y="2221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Contexto oficial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12151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· evidence</a:t>
            </a:r>
            <a:endParaRPr lang="en-US" sz="1000" dirty="0"/>
          </a:p>
        </p:txBody>
      </p:sp>
      <p:sp>
        <p:nvSpPr>
          <p:cNvPr id="23" name="Flecha f1 3"/>
          <p:cNvSpPr/>
          <p:nvPr/>
        </p:nvSpPr>
        <p:spPr>
          <a:xfrm>
            <a:off x="9395231" y="240030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Módulo 5"/>
          <p:cNvSpPr/>
          <p:nvPr/>
        </p:nvSpPr>
        <p:spPr>
          <a:xfrm>
            <a:off x="9722815" y="187452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05695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905695" y="2221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Priorización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905695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· senal-1.1.0</a:t>
            </a:r>
            <a:endParaRPr lang="en-US" sz="1000" dirty="0"/>
          </a:p>
        </p:txBody>
      </p:sp>
      <p:sp>
        <p:nvSpPr>
          <p:cNvPr id="28" name="Módulo 6"/>
          <p:cNvSpPr/>
          <p:nvPr/>
        </p:nvSpPr>
        <p:spPr>
          <a:xfrm>
            <a:off x="9722815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05695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905695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Recuperación híbrida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05695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 · BM25 + e5</a:t>
            </a:r>
            <a:endParaRPr lang="en-US" sz="1000" dirty="0"/>
          </a:p>
        </p:txBody>
      </p:sp>
      <p:sp>
        <p:nvSpPr>
          <p:cNvPr id="32" name="Flecha f2 0"/>
          <p:cNvSpPr/>
          <p:nvPr/>
        </p:nvSpPr>
        <p:spPr>
          <a:xfrm>
            <a:off x="9395231" y="404622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3" name="Módulo 7"/>
          <p:cNvSpPr/>
          <p:nvPr/>
        </p:nvSpPr>
        <p:spPr>
          <a:xfrm>
            <a:off x="7429271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12151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612151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Generación con citas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12151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· cite</a:t>
            </a:r>
            <a:endParaRPr lang="en-US" sz="1000" dirty="0"/>
          </a:p>
        </p:txBody>
      </p:sp>
      <p:sp>
        <p:nvSpPr>
          <p:cNvPr id="37" name="Flecha f2 1"/>
          <p:cNvSpPr/>
          <p:nvPr/>
        </p:nvSpPr>
        <p:spPr>
          <a:xfrm>
            <a:off x="7101688" y="404622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8" name="Módulo 8"/>
          <p:cNvSpPr/>
          <p:nvPr/>
        </p:nvSpPr>
        <p:spPr>
          <a:xfrm>
            <a:off x="5135728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18608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08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318608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Interfaz web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318608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Jinja</a:t>
            </a:r>
            <a:endParaRPr lang="en-US" sz="1000" dirty="0"/>
          </a:p>
        </p:txBody>
      </p:sp>
      <p:sp>
        <p:nvSpPr>
          <p:cNvPr id="42" name="Flecha f2 2"/>
          <p:cNvSpPr/>
          <p:nvPr/>
        </p:nvSpPr>
        <p:spPr>
          <a:xfrm>
            <a:off x="4808144" y="404622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43" name="Módulo 9"/>
          <p:cNvSpPr/>
          <p:nvPr/>
        </p:nvSpPr>
        <p:spPr>
          <a:xfrm>
            <a:off x="2842184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25064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09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025064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Revisión humana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025064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· reviews.jsonl</a:t>
            </a:r>
            <a:endParaRPr lang="en-US" sz="1000" dirty="0"/>
          </a:p>
        </p:txBody>
      </p:sp>
      <p:sp>
        <p:nvSpPr>
          <p:cNvPr id="47" name="Flecha f2 3"/>
          <p:cNvSpPr/>
          <p:nvPr/>
        </p:nvSpPr>
        <p:spPr>
          <a:xfrm>
            <a:off x="2514600" y="4046220"/>
            <a:ext cx="2818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48" name="Módulo 10"/>
          <p:cNvSpPr/>
          <p:nvPr/>
        </p:nvSpPr>
        <p:spPr>
          <a:xfrm>
            <a:off x="548640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1520" y="36393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10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Notion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fichas.jsonl</a:t>
            </a:r>
            <a:endParaRPr lang="en-US" sz="1000" dirty="0"/>
          </a:p>
        </p:txBody>
      </p:sp>
      <p:sp>
        <p:nvSpPr>
          <p:cNvPr id="52" name="Flecha bajada"/>
          <p:cNvSpPr/>
          <p:nvPr/>
        </p:nvSpPr>
        <p:spPr>
          <a:xfrm>
            <a:off x="10682935" y="2971800"/>
            <a:ext cx="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5486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STACK</a:t>
            </a:r>
            <a:endParaRPr lang="en-US" sz="1100" dirty="0"/>
          </a:p>
        </p:txBody>
      </p:sp>
      <p:sp>
        <p:nvSpPr>
          <p:cNvPr id="54" name="Stack Python 3.12"/>
          <p:cNvSpPr/>
          <p:nvPr/>
        </p:nvSpPr>
        <p:spPr>
          <a:xfrm>
            <a:off x="548640" y="5257800"/>
            <a:ext cx="1175004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257800"/>
            <a:ext cx="1175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Python 3.12</a:t>
            </a:r>
            <a:endParaRPr lang="en-US" sz="1000" dirty="0"/>
          </a:p>
        </p:txBody>
      </p:sp>
      <p:sp>
        <p:nvSpPr>
          <p:cNvPr id="56" name="Stack FastAPI + Jinja"/>
          <p:cNvSpPr/>
          <p:nvPr/>
        </p:nvSpPr>
        <p:spPr>
          <a:xfrm>
            <a:off x="1833372" y="5257800"/>
            <a:ext cx="148590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833372" y="5257800"/>
            <a:ext cx="1485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FastAPI + Jinja</a:t>
            </a:r>
            <a:endParaRPr lang="en-US" sz="1000" dirty="0"/>
          </a:p>
        </p:txBody>
      </p:sp>
      <p:sp>
        <p:nvSpPr>
          <p:cNvPr id="58" name="Stack multilingual-e5-small · 384 d"/>
          <p:cNvSpPr/>
          <p:nvPr/>
        </p:nvSpPr>
        <p:spPr>
          <a:xfrm>
            <a:off x="3429000" y="5257800"/>
            <a:ext cx="2574036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429000" y="5257800"/>
            <a:ext cx="2574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multilingual-e5-small · 384 d</a:t>
            </a:r>
            <a:endParaRPr lang="en-US" sz="1000" dirty="0"/>
          </a:p>
        </p:txBody>
      </p:sp>
      <p:sp>
        <p:nvSpPr>
          <p:cNvPr id="60" name="Stack BM25 + RRF"/>
          <p:cNvSpPr/>
          <p:nvPr/>
        </p:nvSpPr>
        <p:spPr>
          <a:xfrm>
            <a:off x="6112764" y="52578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112764" y="5257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BM25 + RRF</a:t>
            </a:r>
            <a:endParaRPr lang="en-US" sz="1000" dirty="0"/>
          </a:p>
        </p:txBody>
      </p:sp>
      <p:sp>
        <p:nvSpPr>
          <p:cNvPr id="62" name="Stack Gemini / Ollama"/>
          <p:cNvSpPr/>
          <p:nvPr/>
        </p:nvSpPr>
        <p:spPr>
          <a:xfrm>
            <a:off x="7319772" y="5257800"/>
            <a:ext cx="148590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9772" y="5257800"/>
            <a:ext cx="1485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Gemini / Ollama</a:t>
            </a:r>
            <a:endParaRPr lang="en-US" sz="1000" dirty="0"/>
          </a:p>
        </p:txBody>
      </p:sp>
      <p:sp>
        <p:nvSpPr>
          <p:cNvPr id="64" name="Stack pypdf"/>
          <p:cNvSpPr/>
          <p:nvPr/>
        </p:nvSpPr>
        <p:spPr>
          <a:xfrm>
            <a:off x="8915400" y="5257800"/>
            <a:ext cx="70866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915400" y="5257800"/>
            <a:ext cx="708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pypdf</a:t>
            </a:r>
            <a:endParaRPr lang="en-US" sz="1000" dirty="0"/>
          </a:p>
        </p:txBody>
      </p:sp>
      <p:sp>
        <p:nvSpPr>
          <p:cNvPr id="66" name="Stack 176 pruebas"/>
          <p:cNvSpPr/>
          <p:nvPr/>
        </p:nvSpPr>
        <p:spPr>
          <a:xfrm>
            <a:off x="9733788" y="5257800"/>
            <a:ext cx="1175004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733788" y="5257800"/>
            <a:ext cx="1175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176 pruebas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Embeddings en proceso, snapshot y modelo en caché: el flujo completo funciona con wifi apagado (prueba T10).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08 · USO DE IA CON BASELINE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IA contra baseline: decimos cuándo no mejora</a:t>
            </a:r>
            <a:endParaRPr lang="en-US" sz="3200" dirty="0"/>
          </a:p>
        </p:txBody>
      </p:sp>
      <p:graphicFrame>
        <p:nvGraphicFramePr>
          <p:cNvPr id="10" name="Tabla baselin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7373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 y abstención (40 casos)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e5 con RRF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 40/40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temática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Palabras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Vecino más cercano e5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A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46 % de acuerdo en 119 titulares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Agrupación por evento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 promedio e5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1 cluster de 1.327 noticias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fecha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P explicable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97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 pendiente de editor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IA aporta al agrupar y clasificar en español e inglés; en consultas léxicas, BM25 ya basta.</a:t>
            </a:r>
            <a:endParaRPr lang="en-US" sz="1300" dirty="0"/>
          </a:p>
        </p:txBody>
      </p:sp>
      <p:sp>
        <p:nvSpPr>
          <p:cNvPr id="6" name="Métrica 13 ms"/>
          <p:cNvSpPr/>
          <p:nvPr/>
        </p:nvSpPr>
        <p:spPr>
          <a:xfrm>
            <a:off x="8183880" y="1828800"/>
            <a:ext cx="3459175" cy="1298448"/>
          </a:xfrm>
          <a:prstGeom prst="roundRect">
            <a:avLst>
              <a:gd name="adj" fmla="val 70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965960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54203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latencia mediana híbrida (p95 15 ms) · meta del reto ≤ 15 s</a:t>
            </a:r>
            <a:endParaRPr lang="en-US" sz="1200" dirty="0"/>
          </a:p>
        </p:txBody>
      </p:sp>
      <p:sp>
        <p:nvSpPr>
          <p:cNvPr id="9" name="Métrica US$ 0"/>
          <p:cNvSpPr/>
          <p:nvPr/>
        </p:nvSpPr>
        <p:spPr>
          <a:xfrm>
            <a:off x="8183880" y="3291840"/>
            <a:ext cx="3459175" cy="1298448"/>
          </a:xfrm>
          <a:prstGeom prst="roundRect">
            <a:avLst>
              <a:gd name="adj" fmla="val 70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58200" y="3429000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400507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costo por consulta: embeddings locales y plantilla</a:t>
            </a:r>
            <a:endParaRPr lang="en-US" sz="1200" dirty="0"/>
          </a:p>
        </p:txBody>
      </p:sp>
      <p:sp>
        <p:nvSpPr>
          <p:cNvPr id="12" name="Métrica 14,7 s"/>
          <p:cNvSpPr/>
          <p:nvPr/>
        </p:nvSpPr>
        <p:spPr>
          <a:xfrm>
            <a:off x="8183880" y="4754880"/>
            <a:ext cx="3459175" cy="1298448"/>
          </a:xfrm>
          <a:prstGeom prst="roundRect">
            <a:avLst>
              <a:gd name="adj" fmla="val 70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4892040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14,7 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546811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borrador completo con llama3.2 local (1.734 + 554 tokens)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Benchmark de desarrollo: cero citas inventadas</a:t>
            </a:r>
            <a:endParaRPr lang="en-US" sz="3200" dirty="0"/>
          </a:p>
        </p:txBody>
      </p:sp>
      <p:sp>
        <p:nvSpPr>
          <p:cNvPr id="4" name="Resultado 245/245"/>
          <p:cNvSpPr/>
          <p:nvPr/>
        </p:nvSpPr>
        <p:spPr>
          <a:xfrm>
            <a:off x="548640" y="1828800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245/245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afirmaciones con cita verificable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Meta del reto: 100 %</a:t>
            </a:r>
            <a:endParaRPr lang="en-US" sz="1100" dirty="0"/>
          </a:p>
        </p:txBody>
      </p:sp>
      <p:sp>
        <p:nvSpPr>
          <p:cNvPr id="8" name="Resultado 7/7"/>
          <p:cNvSpPr/>
          <p:nvPr/>
        </p:nvSpPr>
        <p:spPr>
          <a:xfrm>
            <a:off x="4338218" y="1828800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0574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28346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consultas sin respuesta correctamente abstenidas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364992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Meta del reto: ≥ 80 %</a:t>
            </a:r>
            <a:endParaRPr lang="en-US" sz="1100" dirty="0"/>
          </a:p>
        </p:txBody>
      </p:sp>
      <p:sp>
        <p:nvSpPr>
          <p:cNvPr id="12" name="Resultado 6/6"/>
          <p:cNvSpPr/>
          <p:nvPr/>
        </p:nvSpPr>
        <p:spPr>
          <a:xfrm>
            <a:off x="8127797" y="1828800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7837" y="20574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28346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ataques de inyección contenidos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47837" y="3364992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A01–A06 · fuente = dato, no instrucción</a:t>
            </a:r>
            <a:endParaRPr lang="en-US" sz="1100" dirty="0"/>
          </a:p>
        </p:txBody>
      </p:sp>
      <p:sp>
        <p:nvSpPr>
          <p:cNvPr id="16" name="Resultado 7/7"/>
          <p:cNvSpPr/>
          <p:nvPr/>
        </p:nvSpPr>
        <p:spPr>
          <a:xfrm>
            <a:off x="548640" y="4096512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325112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contradicciones mostradas con ambas versiones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632704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Sin escoger arbitrariamente</a:t>
            </a:r>
            <a:endParaRPr lang="en-US" sz="1100" dirty="0"/>
          </a:p>
        </p:txBody>
      </p:sp>
      <p:sp>
        <p:nvSpPr>
          <p:cNvPr id="20" name="Resultado 0/27"/>
          <p:cNvSpPr/>
          <p:nvPr/>
        </p:nvSpPr>
        <p:spPr>
          <a:xfrm>
            <a:off x="4338218" y="4096512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8258" y="4325112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0/27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4658258" y="510235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abstenciones incorrectas en preguntas respondibles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58258" y="5632704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El sistema no se abstiene de más</a:t>
            </a:r>
            <a:endParaRPr lang="en-US" sz="1100" dirty="0"/>
          </a:p>
        </p:txBody>
      </p:sp>
      <p:sp>
        <p:nvSpPr>
          <p:cNvPr id="24" name="Resultado 176"/>
          <p:cNvSpPr/>
          <p:nvPr/>
        </p:nvSpPr>
        <p:spPr>
          <a:xfrm>
            <a:off x="8127797" y="4096512"/>
            <a:ext cx="3515258" cy="1993392"/>
          </a:xfrm>
          <a:prstGeom prst="roundRect">
            <a:avLst>
              <a:gd name="adj" fmla="val 45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7837" y="4325112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176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8447837" y="510235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pruebas automatizadas verdes en &lt; 7 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47837" y="5632704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Contratos, RAG, seguridad y web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10 · SEGURIDAD Y ÉTICA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El agente no inventa ni obedece a una fuente</a:t>
            </a:r>
            <a:endParaRPr lang="en-US" sz="3200" dirty="0"/>
          </a:p>
        </p:txBody>
      </p:sp>
      <p:sp>
        <p:nvSpPr>
          <p:cNvPr id="4" name="Anti-alucinación"/>
          <p:cNvSpPr/>
          <p:nvPr/>
        </p:nvSpPr>
        <p:spPr>
          <a:xfrm>
            <a:off x="548640" y="1828800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Anti-alucinación círculo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6" name="Anti-alucinación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512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Anti-alucinación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68880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Compuerta de abstención y validador de ID, campo, cifra y año</a:t>
            </a:r>
            <a:endParaRPr lang="en-US" sz="1300" dirty="0"/>
          </a:p>
        </p:txBody>
      </p:sp>
      <p:sp>
        <p:nvSpPr>
          <p:cNvPr id="9" name="Anti-inyección"/>
          <p:cNvSpPr/>
          <p:nvPr/>
        </p:nvSpPr>
        <p:spPr>
          <a:xfrm>
            <a:off x="4338218" y="1828800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Anti-inyección círculo"/>
          <p:cNvSpPr/>
          <p:nvPr/>
        </p:nvSpPr>
        <p:spPr>
          <a:xfrm>
            <a:off x="4612538" y="2103120"/>
            <a:ext cx="548640" cy="54864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Anti-inyección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1" y="22512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4058" y="2103120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Anti-inyección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344058" y="2468880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Delimitador aleatorio; fuentes sospechosas fuera del borrador</a:t>
            </a:r>
            <a:endParaRPr lang="en-US" sz="1300" dirty="0"/>
          </a:p>
        </p:txBody>
      </p:sp>
      <p:sp>
        <p:nvSpPr>
          <p:cNvPr id="14" name="Procedencia real"/>
          <p:cNvSpPr/>
          <p:nvPr/>
        </p:nvSpPr>
        <p:spPr>
          <a:xfrm>
            <a:off x="8127797" y="1828800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Procedencia real círculo"/>
          <p:cNvSpPr/>
          <p:nvPr/>
        </p:nvSpPr>
        <p:spPr>
          <a:xfrm>
            <a:off x="8402117" y="2103120"/>
            <a:ext cx="548640" cy="548640"/>
          </a:xfrm>
          <a:prstGeom prst="ellipse">
            <a:avLst/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6" name="Procedencia real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22512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33637" y="2103120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Procedencia real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33637" y="2468880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Agencia replicada = 1 fuente; evidencia separada del puntaje</a:t>
            </a:r>
            <a:endParaRPr lang="en-US" sz="1300" dirty="0"/>
          </a:p>
        </p:txBody>
      </p:sp>
      <p:sp>
        <p:nvSpPr>
          <p:cNvPr id="19" name="Privacidad y derechos"/>
          <p:cNvSpPr/>
          <p:nvPr/>
        </p:nvSpPr>
        <p:spPr>
          <a:xfrm>
            <a:off x="548640" y="3630168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Privacidad y derechos círculo"/>
          <p:cNvSpPr/>
          <p:nvPr/>
        </p:nvSpPr>
        <p:spPr>
          <a:xfrm>
            <a:off x="822960" y="3904488"/>
            <a:ext cx="548640" cy="5486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1" name="Privacidad y derechos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052621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3904488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Privacidad y derechos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4270248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Solo titulares públicos; descripciones de TVN excluidas</a:t>
            </a:r>
            <a:endParaRPr lang="en-US" sz="1300" dirty="0"/>
          </a:p>
        </p:txBody>
      </p:sp>
      <p:sp>
        <p:nvSpPr>
          <p:cNvPr id="24" name="App endurecida"/>
          <p:cNvSpPr/>
          <p:nvPr/>
        </p:nvSpPr>
        <p:spPr>
          <a:xfrm>
            <a:off x="4338218" y="3630168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App endurecida círculo"/>
          <p:cNvSpPr/>
          <p:nvPr/>
        </p:nvSpPr>
        <p:spPr>
          <a:xfrm>
            <a:off x="4612538" y="3904488"/>
            <a:ext cx="548640" cy="548640"/>
          </a:xfrm>
          <a:prstGeom prst="ellipse">
            <a:avLst/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6" name="App endurecida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671" y="4052621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4058" y="3904488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 endurecida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344058" y="4270248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CSRF, CSP sin scripts, TrustedHost, solo 127.0.0.1</a:t>
            </a:r>
            <a:endParaRPr lang="en-US" sz="1300" dirty="0"/>
          </a:p>
        </p:txBody>
      </p:sp>
      <p:sp>
        <p:nvSpPr>
          <p:cNvPr id="29" name="Humano en el bucle"/>
          <p:cNvSpPr/>
          <p:nvPr/>
        </p:nvSpPr>
        <p:spPr>
          <a:xfrm>
            <a:off x="8127797" y="3630168"/>
            <a:ext cx="3515258" cy="1572768"/>
          </a:xfrm>
          <a:prstGeom prst="roundRect">
            <a:avLst>
              <a:gd name="adj" fmla="val 58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Humano en el bucle círculo"/>
          <p:cNvSpPr/>
          <p:nvPr/>
        </p:nvSpPr>
        <p:spPr>
          <a:xfrm>
            <a:off x="8402117" y="3904488"/>
            <a:ext cx="548640" cy="54864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31" name="Humano en el bucle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052621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33637" y="3904488"/>
            <a:ext cx="2280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Humano en el bucle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133637" y="4270248"/>
            <a:ext cx="2280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Aprobar un borrador no es publicar: no existe botón de publicar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522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FLUJO DE REVISIÓN</a:t>
            </a:r>
            <a:endParaRPr lang="en-US" sz="1100" dirty="0"/>
          </a:p>
        </p:txBody>
      </p:sp>
      <p:sp>
        <p:nvSpPr>
          <p:cNvPr id="35" name="Estado Nuevo"/>
          <p:cNvSpPr/>
          <p:nvPr/>
        </p:nvSpPr>
        <p:spPr>
          <a:xfrm>
            <a:off x="2468880" y="5522976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2468880" y="5522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Nuevo</a:t>
            </a:r>
            <a:endParaRPr lang="en-US" sz="1100" dirty="0"/>
          </a:p>
        </p:txBody>
      </p:sp>
      <p:sp>
        <p:nvSpPr>
          <p:cNvPr id="37" name="Flecha estado 0"/>
          <p:cNvSpPr/>
          <p:nvPr/>
        </p:nvSpPr>
        <p:spPr>
          <a:xfrm>
            <a:off x="3529584" y="5715000"/>
            <a:ext cx="237744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Estado En revisión"/>
          <p:cNvSpPr/>
          <p:nvPr/>
        </p:nvSpPr>
        <p:spPr>
          <a:xfrm>
            <a:off x="3822192" y="5522976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3822192" y="55229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En revisión</a:t>
            </a:r>
            <a:endParaRPr lang="en-US" sz="1100" dirty="0"/>
          </a:p>
        </p:txBody>
      </p:sp>
      <p:sp>
        <p:nvSpPr>
          <p:cNvPr id="40" name="Flecha estado 1"/>
          <p:cNvSpPr/>
          <p:nvPr/>
        </p:nvSpPr>
        <p:spPr>
          <a:xfrm>
            <a:off x="5248656" y="5715000"/>
            <a:ext cx="237744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Estado Requiere evidencia"/>
          <p:cNvSpPr/>
          <p:nvPr/>
        </p:nvSpPr>
        <p:spPr>
          <a:xfrm>
            <a:off x="5541264" y="5522976"/>
            <a:ext cx="1828800" cy="384048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5541264" y="5522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Requiere evidencia</a:t>
            </a:r>
            <a:endParaRPr lang="en-US" sz="1100" dirty="0"/>
          </a:p>
        </p:txBody>
      </p:sp>
      <p:sp>
        <p:nvSpPr>
          <p:cNvPr id="43" name="Flecha estado 2"/>
          <p:cNvSpPr/>
          <p:nvPr/>
        </p:nvSpPr>
        <p:spPr>
          <a:xfrm>
            <a:off x="7424928" y="5715000"/>
            <a:ext cx="237744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Estado Aprobado como borrador"/>
          <p:cNvSpPr/>
          <p:nvPr/>
        </p:nvSpPr>
        <p:spPr>
          <a:xfrm>
            <a:off x="7717536" y="5522976"/>
            <a:ext cx="2331720" cy="384048"/>
          </a:xfrm>
          <a:prstGeom prst="roundRect">
            <a:avLst>
              <a:gd name="adj" fmla="val 500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7717536" y="55229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Aprobado como borrador</a:t>
            </a:r>
            <a:endParaRPr lang="en-US" sz="1100" dirty="0"/>
          </a:p>
        </p:txBody>
      </p:sp>
      <p:sp>
        <p:nvSpPr>
          <p:cNvPr id="46" name="Flecha estado 3"/>
          <p:cNvSpPr/>
          <p:nvPr/>
        </p:nvSpPr>
        <p:spPr>
          <a:xfrm>
            <a:off x="10104120" y="5715000"/>
            <a:ext cx="237744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7" name="Estado Descartado"/>
          <p:cNvSpPr/>
          <p:nvPr/>
        </p:nvSpPr>
        <p:spPr>
          <a:xfrm>
            <a:off x="10396728" y="5522976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0396728" y="55229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Descartado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11 · EXTENSIÓN BANCA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El mismo núcleo genera boletines de entorno para banca</a:t>
            </a:r>
            <a:endParaRPr lang="en-US" sz="3200" dirty="0"/>
          </a:p>
        </p:txBody>
      </p:sp>
      <p:sp>
        <p:nvSpPr>
          <p:cNvPr id="4" name="Panel SBP"/>
          <p:cNvSpPr/>
          <p:nvPr/>
        </p:nvSpPr>
        <p:spPr>
          <a:xfrm>
            <a:off x="548640" y="1828800"/>
            <a:ext cx="6766560" cy="4334256"/>
          </a:xfrm>
          <a:prstGeom prst="roundRect">
            <a:avLst>
              <a:gd name="adj" fmla="val 211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Crédito local del Sistema Bancario Nacional, 2024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Millones de USD, total mensual</a:t>
            </a:r>
            <a:endParaRPr lang="en-US" sz="1200" dirty="0"/>
          </a:p>
        </p:txBody>
      </p:sp>
      <p:graphicFrame>
        <p:nvGraphicFramePr>
          <p:cNvPr id="7" name="Serie SBP" descr=""/>
          <p:cNvGraphicFramePr/>
          <p:nvPr/>
        </p:nvGraphicFramePr>
        <p:xfrm>
          <a:off x="685800" y="2651760"/>
          <a:ext cx="6400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5669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Fuente: SBP, Informe de Actividad Bancaria 2024, Cuadro 7 · período MM/AAAA, nunca «hoy»</a:t>
            </a:r>
            <a:endParaRPr lang="en-US" sz="1100" dirty="0"/>
          </a:p>
        </p:txBody>
      </p:sp>
      <p:sp>
        <p:nvSpPr>
          <p:cNvPr id="9" name="Boletín de entorno círculo"/>
          <p:cNvSpPr/>
          <p:nvPr/>
        </p:nvSpPr>
        <p:spPr>
          <a:xfrm>
            <a:off x="7680960" y="1874520"/>
            <a:ext cx="566928" cy="566928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0" name="Boletín de entorn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031" y="2027591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58200" y="1828800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Boletín de entorno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2176272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Resumen ≤ 250 palabras con evidencia y 3 preguntas para el analista</a:t>
            </a:r>
            <a:endParaRPr lang="en-US" sz="1300" dirty="0"/>
          </a:p>
        </p:txBody>
      </p:sp>
      <p:sp>
        <p:nvSpPr>
          <p:cNvPr id="13" name="Sectores como hipótesis círculo"/>
          <p:cNvSpPr/>
          <p:nvPr/>
        </p:nvSpPr>
        <p:spPr>
          <a:xfrm>
            <a:off x="7680960" y="2971800"/>
            <a:ext cx="566928" cy="566928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4" name="Sectores como hipótesi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031" y="312487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58200" y="2926080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Sectores como hipótesis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3273552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Mapa tema → sector versionado banca-1.0.0</a:t>
            </a:r>
            <a:endParaRPr lang="en-US" sz="1300" dirty="0"/>
          </a:p>
        </p:txBody>
      </p:sp>
      <p:sp>
        <p:nvSpPr>
          <p:cNvPr id="17" name="Series fechadas círculo"/>
          <p:cNvSpPr/>
          <p:nvPr/>
        </p:nvSpPr>
        <p:spPr>
          <a:xfrm>
            <a:off x="7680960" y="4069080"/>
            <a:ext cx="566928" cy="566928"/>
          </a:xfrm>
          <a:prstGeom prst="ellipse">
            <a:avLst/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8" name="Series fechadas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031" y="4222151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58200" y="4023360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Series fechadas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458200" y="4370832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156 series SBP citadas con período y página del PDF</a:t>
            </a:r>
            <a:endParaRPr lang="en-US" sz="1300" dirty="0"/>
          </a:p>
        </p:txBody>
      </p:sp>
      <p:sp>
        <p:nvSpPr>
          <p:cNvPr id="21" name="Sin juicio crediticio círculo"/>
          <p:cNvSpPr/>
          <p:nvPr/>
        </p:nvSpPr>
        <p:spPr>
          <a:xfrm>
            <a:off x="7680960" y="5166360"/>
            <a:ext cx="566928" cy="566928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2" name="Sin juicio crediticio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031" y="531943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58200" y="5120640"/>
            <a:ext cx="3184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Sin juicio crediticio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458200" y="5468112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Léxico de compra/venta, pérdidas o scores bloqueado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12 · TRAZABILIDAD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Cada falla quedó registrada con su corrección</a:t>
            </a:r>
            <a:endParaRPr lang="en-US" sz="3200" dirty="0"/>
          </a:p>
        </p:txBody>
      </p:sp>
      <p:sp>
        <p:nvSpPr>
          <p:cNvPr id="4" name="Línea de tiempo"/>
          <p:cNvSpPr/>
          <p:nvPr/>
        </p:nvSpPr>
        <p:spPr>
          <a:xfrm>
            <a:off x="1658082" y="2148840"/>
            <a:ext cx="88755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Hito 1"/>
          <p:cNvSpPr/>
          <p:nvPr/>
        </p:nvSpPr>
        <p:spPr>
          <a:xfrm>
            <a:off x="1539210" y="202996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06/10 14:50</a:t>
            </a:r>
            <a:endParaRPr lang="en-US" sz="1100" dirty="0"/>
          </a:p>
        </p:txBody>
      </p:sp>
      <p:sp>
        <p:nvSpPr>
          <p:cNvPr id="7" name="Falla 1"/>
          <p:cNvSpPr/>
          <p:nvPr/>
        </p:nvSpPr>
        <p:spPr>
          <a:xfrm>
            <a:off x="640080" y="2514600"/>
            <a:ext cx="2036003" cy="27889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FALLA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 agrupación encadenó 1.327 noticias en un solo cluster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Enlace promedio con distancia 0,10 (D10)</a:t>
            </a:r>
            <a:endParaRPr lang="en-US" sz="1300" dirty="0"/>
          </a:p>
        </p:txBody>
      </p:sp>
      <p:sp>
        <p:nvSpPr>
          <p:cNvPr id="12" name="Hito 2"/>
          <p:cNvSpPr/>
          <p:nvPr/>
        </p:nvSpPr>
        <p:spPr>
          <a:xfrm>
            <a:off x="3758093" y="202996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7523" y="169164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06/10 15:30</a:t>
            </a:r>
            <a:endParaRPr lang="en-US" sz="1100" dirty="0"/>
          </a:p>
        </p:txBody>
      </p:sp>
      <p:sp>
        <p:nvSpPr>
          <p:cNvPr id="14" name="Falla 2"/>
          <p:cNvSpPr/>
          <p:nvPr/>
        </p:nvSpPr>
        <p:spPr>
          <a:xfrm>
            <a:off x="2858963" y="2514600"/>
            <a:ext cx="2036003" cy="27889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1843" y="26974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FALLA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041843" y="29718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«Precio del bitcoin en Japón» no se abstenía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41843" y="397764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41843" y="4251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Cobertura léxica por documento</a:t>
            </a:r>
            <a:endParaRPr lang="en-US" sz="1300" dirty="0"/>
          </a:p>
        </p:txBody>
      </p:sp>
      <p:sp>
        <p:nvSpPr>
          <p:cNvPr id="19" name="Hito 3"/>
          <p:cNvSpPr/>
          <p:nvPr/>
        </p:nvSpPr>
        <p:spPr>
          <a:xfrm>
            <a:off x="5976976" y="202996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6406" y="169164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06/10 15:55</a:t>
            </a:r>
            <a:endParaRPr lang="en-US" sz="1100" dirty="0"/>
          </a:p>
        </p:txBody>
      </p:sp>
      <p:sp>
        <p:nvSpPr>
          <p:cNvPr id="21" name="Falla 3"/>
          <p:cNvSpPr/>
          <p:nvPr/>
        </p:nvSpPr>
        <p:spPr>
          <a:xfrm>
            <a:off x="5077846" y="2514600"/>
            <a:ext cx="2036003" cy="27889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60726" y="26974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FALLA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60726" y="29718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llama3.2: 3 de 3 afirmaciones descartadas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60726" y="397764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60726" y="4251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Normalización de formato y plantilla de respaldo</a:t>
            </a:r>
            <a:endParaRPr lang="en-US" sz="1300" dirty="0"/>
          </a:p>
        </p:txBody>
      </p:sp>
      <p:sp>
        <p:nvSpPr>
          <p:cNvPr id="26" name="Hito 4"/>
          <p:cNvSpPr/>
          <p:nvPr/>
        </p:nvSpPr>
        <p:spPr>
          <a:xfrm>
            <a:off x="8195859" y="202996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05289" y="169164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06/10 16:45</a:t>
            </a:r>
            <a:endParaRPr lang="en-US" sz="1100" dirty="0"/>
          </a:p>
        </p:txBody>
      </p:sp>
      <p:sp>
        <p:nvSpPr>
          <p:cNvPr id="28" name="Falla 4"/>
          <p:cNvSpPr/>
          <p:nvPr/>
        </p:nvSpPr>
        <p:spPr>
          <a:xfrm>
            <a:off x="7296729" y="2514600"/>
            <a:ext cx="2036003" cy="27889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609" y="26974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FALLA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79609" y="29718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«PIB 2026» se respondía con datos de 2024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79609" y="397764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79609" y="4251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Abstención si falta el año pedido (D11)</a:t>
            </a:r>
            <a:endParaRPr lang="en-US" sz="1300" dirty="0"/>
          </a:p>
        </p:txBody>
      </p:sp>
      <p:sp>
        <p:nvSpPr>
          <p:cNvPr id="33" name="Hito 5"/>
          <p:cNvSpPr/>
          <p:nvPr/>
        </p:nvSpPr>
        <p:spPr>
          <a:xfrm>
            <a:off x="10414742" y="2029968"/>
            <a:ext cx="237744" cy="2377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24172" y="169164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07/10</a:t>
            </a:r>
            <a:endParaRPr lang="en-US" sz="1100" dirty="0"/>
          </a:p>
        </p:txBody>
      </p:sp>
      <p:sp>
        <p:nvSpPr>
          <p:cNvPr id="35" name="Falla 5"/>
          <p:cNvSpPr/>
          <p:nvPr/>
        </p:nvSpPr>
        <p:spPr>
          <a:xfrm>
            <a:off x="9515612" y="2514600"/>
            <a:ext cx="2036003" cy="27889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8492" y="26974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FALLA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98492" y="29718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Regex de «liquidez» devolvía otro ratio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698492" y="397764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98492" y="4251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Indicadores de solidez fuera del alcance (D15)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17 decisiones (D1–D17), bitácora, catálogo y matriz T01–T10 documentados en Notion.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13 · LÍMITES Y PRÓXIMOS PASOS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Lo que aún no sabemos y cómo lo vamos a medir</a:t>
            </a:r>
            <a:endParaRPr lang="en-US" sz="3200" dirty="0"/>
          </a:p>
        </p:txBody>
      </p:sp>
      <p:sp>
        <p:nvSpPr>
          <p:cNvPr id="4" name="Límites declarados"/>
          <p:cNvSpPr/>
          <p:nvPr/>
        </p:nvSpPr>
        <p:spPr>
          <a:xfrm>
            <a:off x="548640" y="1828800"/>
            <a:ext cx="5410048" cy="4334256"/>
          </a:xfrm>
          <a:prstGeom prst="roundRect">
            <a:avLst>
              <a:gd name="adj" fmla="val 211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Límites declarados círculo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6" name="Límites declarado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1" y="22561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76272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Límites declarados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4769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Solo titulares y metadatos: no lee artículos completos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La agrupación todavía puede mezclar eventos cercanos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Un LLM pequeño cita mal; cae a la plantilla con aviso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Reglas calibradas viendo el set de desarrollo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Banca, set reservado híbrido: 2/3 (caso RB03)</a:t>
            </a:r>
            <a:endParaRPr lang="en-US" sz="1600" dirty="0"/>
          </a:p>
        </p:txBody>
      </p:sp>
      <p:sp>
        <p:nvSpPr>
          <p:cNvPr id="9" name="Próximos pasos"/>
          <p:cNvSpPr/>
          <p:nvPr/>
        </p:nvSpPr>
        <p:spPr>
          <a:xfrm>
            <a:off x="6233008" y="1828800"/>
            <a:ext cx="5410048" cy="4334256"/>
          </a:xfrm>
          <a:prstGeom prst="roundRect">
            <a:avLst>
              <a:gd name="adj" fmla="val 211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Próximos pasos círculo"/>
          <p:cNvSpPr/>
          <p:nvPr/>
        </p:nvSpPr>
        <p:spPr>
          <a:xfrm>
            <a:off x="6553048" y="2103120"/>
            <a:ext cx="566928" cy="566928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Próximos pasos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118" y="225619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2176272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Próximos pasos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3017520"/>
            <a:ext cx="4769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Etiquetas humanas para macro-F1 de clasificación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Precision@5 del ranking contra la selección de un editor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Prueba cronometrada: tarea manual vs asistida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Extractos autorizados de TVN para fichas más ricas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Revisión de boletines por una persona analista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SEÑAL TVN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Una alerta es una invitación a investigar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5661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Ni el volumen ni la repetición equivalen a verdad. Señal TVN entrega evidencia; la decisión sigue siendo humana.</a:t>
            </a:r>
            <a:endParaRPr lang="en-US" sz="2000" dirty="0"/>
          </a:p>
        </p:txBody>
      </p:sp>
      <p:sp>
        <p:nvSpPr>
          <p:cNvPr id="5" name="Demo"/>
          <p:cNvSpPr/>
          <p:nvPr/>
        </p:nvSpPr>
        <p:spPr>
          <a:xfrm>
            <a:off x="548640" y="498348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Demo círculo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7" name="Dem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5351800"/>
            <a:ext cx="269199" cy="2691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Demo local: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server_start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127.0.0.1:8765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Funciona con wifi apagado · Gracias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l TVN">
  <a:themeElements>
    <a:clrScheme name="Senal TVN">
      <a:dk1>
        <a:srgbClr val="0A0F1C"/>
      </a:dk1>
      <a:lt1>
        <a:srgbClr val="FFFFFF"/>
      </a:lt1>
      <a:dk2>
        <a:srgbClr val="141B2D"/>
      </a:dk2>
      <a:lt2>
        <a:srgbClr val="E6EAF2"/>
      </a:lt2>
      <a:accent1>
        <a:srgbClr val="FF5A4E"/>
      </a:accent1>
      <a:accent2>
        <a:srgbClr val="2EC4B6"/>
      </a:accent2>
      <a:accent3>
        <a:srgbClr val="FFB547"/>
      </a:accent3>
      <a:accent4>
        <a:srgbClr val="7AA2FF"/>
      </a:accent4>
      <a:accent5>
        <a:srgbClr val="8E97AD"/>
      </a:accent5>
      <a:accent6>
        <a:srgbClr val="222C47"/>
      </a:accent6>
      <a:hlink>
        <a:srgbClr val="7AA2FF"/>
      </a:hlink>
      <a:folHlink>
        <a:srgbClr val="8E97AD"/>
      </a:folHlink>
    </a:clrScheme>
    <a:fontScheme name="Senal TV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Señal TVN · De la señal a la decisión</dc:title>
  <dc:subject>HackIAthon 2026 · Reto TVN Media</dc:subject>
  <dc:creator>Equipo Señal TVN</dc:creator>
  <cp:lastModifiedBy>Equipo Señal TVN</cp:lastModifiedBy>
  <cp:revision>1</cp:revision>
  <dcterms:created xsi:type="dcterms:W3CDTF">2026-10-07T16:33:12Z</dcterms:created>
  <dcterms:modified xsi:type="dcterms:W3CDTF">2026-10-07T16:33:12Z</dcterms:modified>
</cp:coreProperties>
</file>